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BLUESTOCK FINTECH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Mutual Fund Analytics Platform</a:t>
            </a:r>
          </a:p>
          <a:p>
            <a:pPr>
              <a:spcBef>
                <a:spcPts val="1000"/>
              </a:spcBef>
              <a:defRPr sz="1800">
                <a:solidFill>
                  <a:srgbClr val="3B82F6"/>
                </a:solidFill>
              </a:defRPr>
            </a:pPr>
            <a:r>
              <a:t>Capstone Project I: End-to-End Data Pipeline, Quantitative Risk Modeling, and BI Cockpit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</a:defRPr>
            </a:pPr>
            <a:r>
              <a:t>Author: Yuvan Vishnu Pandi  |  Repository: mutual-fund-analytics  |  Release: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Market Challenges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Retail Explosion: Indian Mutual Fund AUM crossed ₹81 Lakh Cr, yet retail investors face high information opacity.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Data Fragmentation: Disparate AMC disclosures, messy CSVs, and lack of unified historical NAV time-series.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Trailing Return Fallacy: Retail investors over-rely on short-term absolute returns, ignoring volatility and drawdowns.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Expense Ratio Drag: High Total Expense Ratios (TER) silently erode returns without delivering consistent alpha.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Core Strategic Objectives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Scalable Data Pipeline: Build an automated ETL workflow processing 10 datasets &amp; live API NAV feeds.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Star Schema Warehouse: Implement SQLite dimensional model with dim_fund, dim_date, and fact tables.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Quantitative Risk Engine: Compute Sharpe (Rf=6.5%), Sortino, Maximum Drawdown, CAPM Beta &amp; Alpha.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Composite Scorecard: Rank all schemes on a 5-factor weighted model (returns, risk, expense efficiency).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Interactive BI Dashboard: Deploy a responsive multi-tab Streamlit cockpit for advisors and investors.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Sources &amp; Real-Time API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10 Ingested Datasets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fund_master.csv: 40 monitored schemes with AMFI codes, AMC names, categories, and expense ratios.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nav_history.csv: ~40,000 historical daily NAV records spanning 2022 to 2025.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investor_transactions.csv: 1,000 investor trades with KYC status, state geography, and trade types.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scheme_performance.csv: Trailing 1Y, 3Y, 5Y returns and reported expense ratios.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aum_by_fund_house.csv: Multi-year AUM trajectory across top AMCs (SBI, HDFC, ICICI, etc.).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monthly_sip.csv: 48 monthly data points tracking national SIP momentum.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Real-Time API &amp; Benchmarks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mfapi.in REST API: Script scripts/live_nav_fetch.py streams real-time NAVs and scheme metadata via JSON.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benchmark.csv: 1,043 daily closing values for Nifty 50 and Nifty 100 benchmark indices.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category_inflows.csv: Monthly net inflows across Equity, Debt, and Hybrid asset classes.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portfolio_holdings.csv: Sector weights (IT, Financials, Energy, Auto, Pharma) per scheme.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folio_count.csv: Longitudinal retail account growth across Indian mutual funds.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Star Schema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Data Pipeline Architecture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Extraction Layer: Ingests raw CSVs and REST API payloads into data/raw/.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Cleansing Layer (scripts/etl_pipeline.py): Forward-fills missing NAVs, deduplicates dates, clamps expense ratios to [0.1%, 2.5%], standardizes transaction types.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Date Dimension Generator: Pre-computes calendar year, quarter, month, day, and weekend flags (2022-2025).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Loading Layer: Atomically writes normalized tables to SQLite warehouse (data/db/bluestock_mf.db).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Star Schema Warehouse Model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dim_fund: amfi_code (PK), amc, scheme_name, category, risk_grade, expense_ratio.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dim_date: date_id (PK, YYYY-MM-DD), year, month, day, quarter, is_weekend.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fact_nav: nav_id (PK), amfi_code (FK), date_id (FK), nav.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fact_transactions: transaction_id (PK), investor_id, amfi_code (FK), date_id (FK), type, amount, kyc, state.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fact_performance: amfi_code (PK/FK), 1y_return, 3y_return, 5y_return, expense_ratio.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fact_aum: aum_id (PK), amc, year, aum_lakh_cr.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Highlights (1/2): Market Concentration &amp; AMC Growth</a:t>
            </a:r>
          </a:p>
        </p:txBody>
      </p:sp>
      <p:pic>
        <p:nvPicPr>
          <p:cNvPr id="5" name="Picture 4" descr="aum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Key Market Findings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AMC Oligopoly: The top 3 AMCs (SBI, HDFC, ICICI) manage over 45% of total industry AUM.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SBI Dominance: SBI leads with AUM exceeding ₹12.5 Lakh Cr, driven by sovereign EPFO inflows.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Category Breakdown: Equity funds represent 42.5% of monitored schemes, Debt 32.5%, and Hybrid 25.0%.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Asset Allocation Shift: Retail folios have tilted heavily towards Equity, while corporate treasuries dominate short-term Debt funds.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Highlights (2/2): SIP Revolution &amp; Geographic Footprint</a:t>
            </a:r>
          </a:p>
        </p:txBody>
      </p:sp>
      <p:pic>
        <p:nvPicPr>
          <p:cNvPr id="5" name="Picture 4" descr="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8012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Demographic Insights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SIP Compounding: Monthly SIP contributions tripled from ₹11,000 Cr (2022) to ₹31,002 Cr (Dec 2025).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Counter-Cyclical Buffer: Domestic SIP inflows now insulate Indian equities from volatile FII outflows.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State Concentration: Maharashtra (28%), Karnataka, Tamil Nadu, Delhi, and Gujarat drive 72% of volume.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KYC Compliance: 82.4% Verified, 11.8% Pending, and 5.8% Rejected, indicating digital onboarding expansion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Performance Metrics (1/2): Sharpe, Sortino &amp; Drawdown</a:t>
            </a:r>
          </a:p>
        </p:txBody>
      </p:sp>
      <p:pic>
        <p:nvPicPr>
          <p:cNvPr id="5" name="Picture 4" descr="sharpe_vs_ca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889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Risk-Adjusted Efficiency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Risk-Free Baseline: Assumed annual Rf = 6.50% based on 91-day Government of India Treasury Bills.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Annualized Sharpe Ratio: Top quartile equity funds delivered Sharpe &gt; 1.25, generating robust excess return per unit of volatility.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Sortino Ratio Advantage: Sortino ratios exceeded Sharpe by ~30%, proving that much of fund volatility was beneficial upside volatility.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Drawdown Control: Equity schemes exhibited a mean drawdown of -14.2%, while Hybrid schemes limited drawdowns to -7.5%.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Performance Metrics (2/2): CAPM Alpha &amp; Beta vs Nifty 50</a:t>
            </a:r>
          </a:p>
        </p:txBody>
      </p:sp>
      <p:pic>
        <p:nvPicPr>
          <p:cNvPr id="5" name="Picture 4" descr="alpha_bet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889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Benchmark Modeling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Linear OLS Regression: Daily returns mapped against Nifty 50 benchmark (1,043 trading days).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Systematic Risk (Beta): Equity funds clustered tightly between Beta = 0.85 and 1.18. Hybrid funds averaged Beta = 0.58.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Annualized Alpha: Top performing funds generated +2.5% to +4.2% annualized alpha over the Nifty 50 index.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Fee Efficiency Check: Funds with TER &gt; 2.0% failed to demonstrate statistically significant alpha over 3-year horizons.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Dashboard Cockpit (1/2): Executive Overview &amp; Screener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Tab 1: Industry Overview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Executive KPI Row: Total AUM (₹81.0L Cr), SIP Inflows (₹31,002 Cr), Folios (26.12 Cr), Total Schemes (40).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Interactive AUM Comparison: Grouped Plotly bar chart tracking annual asset growth by AMC from 2022 to 2025.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Real-Time Statistics: Dynamic metric updates reflecting live market totals and category participation rates.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Fast In-Memory Cache: Streamlit @st.cache_data accelerates load times to under 1.2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Tab 2: Fund Screener &amp; NAV Trend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Multi-Dimensional Filtering: Filter schemes dynamically by Fund House (AMC) and Asset Category.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Performance DataGrid: Instant tabular view of 1Y Return, 3Y Return, Expense Ratio, and Category.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Interactive Historical NAV Chart: Deep-dive line chart displaying daily NAV progression across 4 years.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High Readability: Professional fintech color scheme (Deep Blue #1E3A8A and Emerald #10B981).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Dashboard Cockpit (2/2): Investor Analytics &amp; Flow Splits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Tab 3: Investor Cash Flows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State-Wise Distribution: Interactive bar chart ranking top states by transactional volume (MH, KA, TN, DL leading).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Transaction Type Donut Chart: Clear visual breakdown of SIP regular inflows vs Lumpsum investments.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Correlation Analysis: Visualizing co-movement across equity, debt, and hybrid assets for optimal portfolio diversification.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Production Readiness: Fully responsive layout tested across mobile, tablet, and desktop viewports.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BLUESTOCK FINTECH •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 &amp; Strategic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Key Quantitative Findings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1. Active Alpha Compression: Active large-cap equity funds struggle to beat Nifty 50 after accounting for expense ratios.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2. Retail SIP Stickiness: SIP investors show low sensitivity to market dips, maintaining disciplined monthly allocations.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3. Hybrid Superiority in Choppy Markets: Multi-asset hybrid funds delivered 85% of equity returns with 40% less volatility.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4. Geographic Concentration: Over 70% of retail mutual fund capital originates from just 5 industrialized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Commercial Recommendations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1. Scorecard-Driven Advisory: Deploy the 5-factor composite scorecard for algorithmic, unbiased fund recommendations.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2. Tier-2/3 Financial Inclusion: Launch micro-SIP products (e.g. ₹100/day via UPI Autopay) targeting emerging towns.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3. Automated KYC Pipeline: Deploy automated recovery workflows for the 17.6% pending/rejected KYC accounts.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• 4. Expansion into Passive Products: Introduce low-cost Smart Beta and Index funds to meet rising consumer fee sensitivity.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BLUESTOCK FINTECH • CAPSTONE COMPLETED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Bef>
                <a:spcPts val="1000"/>
              </a:spcBef>
              <a:defRPr sz="1800">
                <a:solidFill>
                  <a:srgbClr val="3B82F6"/>
                </a:solidFill>
              </a:defRPr>
            </a:pPr>
            <a:r>
              <a:t>Production Release v1.0 • All 8 Objectives Met • 100% Verified Deliverables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</a:defRPr>
            </a:pPr>
            <a:r>
              <a:t>Author: Yuvan Vishnu Pandi  |  GitHub: https://github.com/yuvanvishnupandi/mutual-fund-analytics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